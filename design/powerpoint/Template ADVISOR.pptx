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e336d9a-78e9-3482-a4d2-850df6a9562a}">
          <p14:sldIdLst>
            <p14:sldId id="256"/>
            <p14:sldId id="257"/>
          </p14:sldIdLst>
        </p14:section>
        <p14:section name="Capitolo 1" id="{1379e9ac-1eeb-abc4-24a6-04ec04ea79a1}">
          <p14:sldIdLst>
            <p14:sldId id="258"/>
            <p14:sldId id="259"/>
            <p14:sldId id="260"/>
            <p14:sldId id="261"/>
            <p14:sldId id="262"/>
          </p14:sldIdLst>
        </p14:section>
        <p14:section name="Chiusura" id="{8d488e1c-4122-4d0f-c480-e02f524bdf7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Clienti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2C34"/>
              </a:solidFill>
              <a:ln w="9525" cap="flat">
                <a:solidFill>
                  <a:srgbClr val="10101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05864"/>
              </a:solidFill>
              <a:ln w="9525" cap="flat">
                <a:solidFill>
                  <a:srgbClr val="101010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0889C"/>
              </a:solidFill>
              <a:ln w="9525" cap="flat">
                <a:solidFill>
                  <a:srgbClr val="101010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8303F"/>
              </a:solidFill>
              <a:ln w="9525" cap="flat">
                <a:solidFill>
                  <a:srgbClr val="101010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A2A3A3"/>
              </a:solidFill>
              <a:ln w="9525" cap="flat">
                <a:solidFill>
                  <a:srgbClr val="10101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Oltre 1 mln €</c:v>
                </c:pt>
                <c:pt idx="1">
                  <c:v>500k – 1 mln €</c:v>
                </c:pt>
                <c:pt idx="2">
                  <c:v>250 – 500k €</c:v>
                </c:pt>
                <c:pt idx="3">
                  <c:v>100 – 250k €</c:v>
                </c:pt>
                <c:pt idx="4">
                  <c:v>Sotto 100k €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28</c:v>
                </c:pt>
                <c:pt idx="2">
                  <c:v>15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Copertina: titolo, sottotitolo e data. La parola chiave del titolo può andare in rosso ADVISOR.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Testo a sinistra con blocchi, barre etichetta, elenco e callout; a destra il segnaposto per una foto in bianco e nero.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ISOR Copertin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ADVI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22960"/>
            <a:ext cx="2926080" cy="498881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77240" y="2468880"/>
            <a:ext cx="96012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Titolo della presentazione</a:t>
            </a:r>
            <a:endParaRPr lang="en-US" sz="4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77240" y="425196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Sottotitolo della presentazione</a:t>
            </a:r>
            <a:endParaRPr lang="en-US" sz="2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7724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i="1" dirty="0">
                <a:solidFill>
                  <a:srgbClr val="9A9A9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Mese anno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ISOR Sezion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ADVI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347472"/>
            <a:ext cx="1417320" cy="24164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77240" y="1920240"/>
            <a:ext cx="3657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chemeClr val="accent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77240" y="31089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Titolo del capitolo</a:t>
            </a: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77240" y="420624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Descrizione breve del capitolo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ISOR Titolo e test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ADVI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347472"/>
            <a:ext cx="1417320" cy="24164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77240" y="274320"/>
            <a:ext cx="8778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Titolo della slide</a:t>
            </a: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77240" y="1024128"/>
            <a:ext cx="8778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Sottotitolo</a:t>
            </a:r>
            <a:endParaRPr lang="en-US" sz="2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77240" y="1828800"/>
            <a:ext cx="1060704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ISOR Testo e immagin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ADVI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347472"/>
            <a:ext cx="1417320" cy="24164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77240" y="274320"/>
            <a:ext cx="8778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Titolo della slide</a:t>
            </a: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77240" y="1024128"/>
            <a:ext cx="8778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Sottotitolo</a:t>
            </a:r>
            <a:endParaRPr lang="en-US" sz="2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Testo</a:t>
            </a:r>
            <a:endParaRPr lang="en-US" sz="1600" dirty="0"/>
          </a:p>
        </p:txBody>
      </p:sp>
      <p:sp>
        <p:nvSpPr>
          <p:cNvPr id="7" name="Text 1"/>
          <p:cNvSpPr/>
          <p:nvPr>
            <p:ph idx="105" hasCustomPrompt="1"/>
          </p:nvPr>
        </p:nvSpPr>
        <p:spPr>
          <a:xfrm>
            <a:off x="6583680" y="1097280"/>
            <a:ext cx="4892040" cy="5029200"/>
          </a:xfrm>
          <a:prstGeom prst="rect">
            <a:avLst>
              <a:gd name="adj" fmla="val 3738"/>
            </a:avLst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Inserisci una foto in bianco e nero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ISOR Solo tito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ADVI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347472"/>
            <a:ext cx="1417320" cy="24164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77240" y="274320"/>
            <a:ext cx="8778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Titolo della slide</a:t>
            </a: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77240" y="1024128"/>
            <a:ext cx="8778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Sottotitolo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ISOR Chius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ADVI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048" y="2377440"/>
            <a:ext cx="3657600" cy="623601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2011680" y="3429000"/>
            <a:ext cx="81683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Contatti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BA0100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BA01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BA01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BA010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BA0100"/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rgbClr val="BA0100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rgbClr val="BA0100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rgbClr val="BA0100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rgbClr val="BA0100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zzo anello"/>
          <p:cNvSpPr/>
          <p:nvPr/>
        </p:nvSpPr>
        <p:spPr>
          <a:xfrm>
            <a:off x="-411480" y="2697480"/>
            <a:ext cx="822960" cy="822960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77240" y="24688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Titolo della presentazione con la </a:t>
            </a:r>
            <a:pPr algn="l" indent="0" marL="0">
              <a:buNone/>
            </a:pPr>
            <a:r>
              <a:rPr lang="en-US" sz="4400" dirty="0">
                <a:solidFill>
                  <a:srgbClr val="E5344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parola chiave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77240" y="4251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Sottotitolo: per chi è e a cosa serve</a:t>
            </a:r>
            <a:endParaRPr lang="en-US" sz="22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7772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Ottobre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zzo anello"/>
          <p:cNvSpPr/>
          <p:nvPr/>
        </p:nvSpPr>
        <p:spPr>
          <a:xfrm>
            <a:off x="-411480" y="292608"/>
            <a:ext cx="822960" cy="822960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77240" y="2743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Market Intelligence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77240" y="1024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Dati e analisi per la consulenza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Produciamo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report, osservatori e classifiche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rivolti a top manager, private banker e professionisti del mondo finanziario.</a:t>
            </a:r>
            <a:endParaRPr lang="en-US" sz="1600" dirty="0"/>
          </a:p>
        </p:txBody>
      </p:sp>
      <p:sp>
        <p:nvSpPr>
          <p:cNvPr id="6" name="Blocco I nostri osservatori"/>
          <p:cNvSpPr txBox="1"/>
          <p:nvPr/>
        </p:nvSpPr>
        <p:spPr>
          <a:xfrm>
            <a:off x="914400" y="251460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 nostri osservatori</a:t>
            </a:r>
            <a:endParaRPr lang="en-US" sz="1800" dirty="0"/>
          </a:p>
        </p:txBody>
      </p:sp>
      <p:sp>
        <p:nvSpPr>
          <p:cNvPr id="7" name="Filetto blocco"/>
          <p:cNvSpPr/>
          <p:nvPr/>
        </p:nvSpPr>
        <p:spPr>
          <a:xfrm>
            <a:off x="777240" y="2953512"/>
            <a:ext cx="53949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Barra etichetta"/>
          <p:cNvSpPr/>
          <p:nvPr/>
        </p:nvSpPr>
        <p:spPr>
          <a:xfrm>
            <a:off x="777240" y="3136392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9" name="Barra etichetta"/>
          <p:cNvSpPr/>
          <p:nvPr/>
        </p:nvSpPr>
        <p:spPr>
          <a:xfrm>
            <a:off x="777240" y="3136392"/>
            <a:ext cx="374904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41832" y="3136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OSSERVATORIO FEE-ONLY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0449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ª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Edizione</a:t>
            </a:r>
            <a:endParaRPr lang="en-US" sz="3600" dirty="0"/>
          </a:p>
        </p:txBody>
      </p:sp>
      <p:sp>
        <p:nvSpPr>
          <p:cNvPr id="12" name="Barra etichetta"/>
          <p:cNvSpPr/>
          <p:nvPr/>
        </p:nvSpPr>
        <p:spPr>
          <a:xfrm>
            <a:off x="777240" y="3703320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3" name="Barra etichetta"/>
          <p:cNvSpPr/>
          <p:nvPr/>
        </p:nvSpPr>
        <p:spPr>
          <a:xfrm>
            <a:off x="777240" y="3703320"/>
            <a:ext cx="374904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CLASSIFICA RETI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ª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Edizione</a:t>
            </a:r>
            <a:endParaRPr lang="en-US" sz="3600" dirty="0"/>
          </a:p>
        </p:txBody>
      </p:sp>
      <p:sp>
        <p:nvSpPr>
          <p:cNvPr id="16" name="Blocco Key points"/>
          <p:cNvSpPr txBox="1"/>
          <p:nvPr/>
        </p:nvSpPr>
        <p:spPr>
          <a:xfrm>
            <a:off x="914400" y="434340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Key points</a:t>
            </a:r>
            <a:endParaRPr lang="en-US" sz="1800" dirty="0"/>
          </a:p>
        </p:txBody>
      </p:sp>
      <p:sp>
        <p:nvSpPr>
          <p:cNvPr id="17" name="Filetto blocco"/>
          <p:cNvSpPr/>
          <p:nvPr/>
        </p:nvSpPr>
        <p:spPr>
          <a:xfrm>
            <a:off x="777240" y="4782312"/>
            <a:ext cx="53949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9377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200"/>
              </a:spcAft>
              <a:buClr>
                <a:srgbClr val="BA0100"/>
              </a:buClr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Dati trimestrali</a:t>
            </a:r>
            <a:endParaRPr lang="en-US" sz="1500" dirty="0"/>
          </a:p>
          <a:p>
            <a:pPr marL="279400" indent="-279400">
              <a:spcAft>
                <a:spcPts val="200"/>
              </a:spcAft>
              <a:buClr>
                <a:srgbClr val="BA0100"/>
              </a:buClr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~1.900 consulenti censiti</a:t>
            </a:r>
            <a:endParaRPr lang="en-US" sz="1500" dirty="0"/>
          </a:p>
          <a:p>
            <a:pPr marL="279400" indent="-279400">
              <a:spcAft>
                <a:spcPts val="200"/>
              </a:spcAft>
              <a:buClr>
                <a:srgbClr val="BA0100"/>
              </a:buClr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Ca. 40 reti monitorate</a:t>
            </a:r>
            <a:endParaRPr lang="en-US" sz="1500" dirty="0"/>
          </a:p>
        </p:txBody>
      </p:sp>
      <p:sp>
        <p:nvSpPr>
          <p:cNvPr id="19" name="Callout"/>
          <p:cNvSpPr/>
          <p:nvPr/>
        </p:nvSpPr>
        <p:spPr>
          <a:xfrm>
            <a:off x="960120" y="5870448"/>
            <a:ext cx="512064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</p:spPr>
      </p:sp>
      <p:sp>
        <p:nvSpPr>
          <p:cNvPr id="20" name="Callout"/>
          <p:cNvSpPr/>
          <p:nvPr/>
        </p:nvSpPr>
        <p:spPr>
          <a:xfrm>
            <a:off x="960120" y="5870448"/>
            <a:ext cx="4937760" cy="56692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1" name="Callout"/>
          <p:cNvSpPr/>
          <p:nvPr/>
        </p:nvSpPr>
        <p:spPr>
          <a:xfrm>
            <a:off x="960120" y="5870448"/>
            <a:ext cx="5120640" cy="38404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2" name="Triangolo callout"/>
          <p:cNvSpPr/>
          <p:nvPr/>
        </p:nvSpPr>
        <p:spPr>
          <a:xfrm rot="5400000">
            <a:off x="832104" y="5724144"/>
            <a:ext cx="329184" cy="27432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43000" y="58704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 analisi di riferimento per chi guida la consulenza</a:t>
            </a:r>
            <a:endParaRPr lang="en-US" sz="1500" dirty="0"/>
          </a:p>
        </p:txBody>
      </p:sp>
      <p:sp>
        <p:nvSpPr>
          <p:cNvPr id="25" name="Text 1"/>
          <p:cNvSpPr/>
          <p:nvPr>
            <p:ph idx="104" type="body" hasCustomPrompt="1"/>
          </p:nvPr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6" name="Text 1"/>
          <p:cNvSpPr/>
          <p:nvPr>
            <p:ph idx="105" hasCustomPrompt="1"/>
          </p:nvPr>
        </p:nvSpPr>
        <p:spPr>
          <a:xfrm>
            <a:off x="6583680" y="1097280"/>
            <a:ext cx="4892040" cy="5029200"/>
          </a:xfrm>
          <a:prstGeom prst="rect">
            <a:avLst>
              <a:gd name="adj" fmla="val 3738"/>
            </a:avLst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zzo anello"/>
          <p:cNvSpPr/>
          <p:nvPr/>
        </p:nvSpPr>
        <p:spPr>
          <a:xfrm>
            <a:off x="-411480" y="3246120"/>
            <a:ext cx="822960" cy="822960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7724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777240" y="3108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Il mercato della consulenza</a:t>
            </a:r>
            <a:endParaRPr lang="en-US" sz="4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777240" y="4206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Masse, clienti e operatori nel 2026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zzo anello"/>
          <p:cNvSpPr/>
          <p:nvPr/>
        </p:nvSpPr>
        <p:spPr>
          <a:xfrm>
            <a:off x="-411480" y="292608"/>
            <a:ext cx="822960" cy="822960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77240" y="2743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 mercato in crescita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77240" y="1024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 fattori principali (dati di esempio)</a:t>
            </a:r>
            <a:endParaRPr lang="en-US" sz="2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777240" y="1828800"/>
            <a:ext cx="10607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800"/>
              </a:spcAft>
              <a:buClr>
                <a:srgbClr val="BA0100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 masse seguite dai consulenti indipendenti crescono a doppia cifra</a:t>
            </a:r>
            <a:endParaRPr lang="en-US" sz="1600" dirty="0"/>
          </a:p>
          <a:p>
            <a:pPr algn="l" marL="279400" indent="-279400">
              <a:spcAft>
                <a:spcPts val="800"/>
              </a:spcAft>
              <a:buClr>
                <a:srgbClr val="BA0100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 clienti lasciano le reti bancarie dopo il passaggio generazionale</a:t>
            </a:r>
            <a:endParaRPr lang="en-US" sz="1600" dirty="0"/>
          </a:p>
          <a:p>
            <a:pPr algn="l" marL="279400" indent="-279400">
              <a:spcAft>
                <a:spcPts val="800"/>
              </a:spcAft>
              <a:buClr>
                <a:srgbClr val="BA0100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 professionisti escono dalle reti per aprire uno studio proprio</a:t>
            </a:r>
            <a:endParaRPr lang="en-US" sz="1600" dirty="0"/>
          </a:p>
          <a:p>
            <a:pPr algn="l" marL="279400" indent="-279400">
              <a:spcAft>
                <a:spcPts val="800"/>
              </a:spcAft>
              <a:buClr>
                <a:srgbClr val="BA0100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 parcella media scende di pochi punti 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zzo anello"/>
          <p:cNvSpPr/>
          <p:nvPr/>
        </p:nvSpPr>
        <p:spPr>
          <a:xfrm>
            <a:off x="-411480" y="292608"/>
            <a:ext cx="822960" cy="822960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77240" y="2743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 numeri chiave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77240" y="1024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Consulenza fee-only in Italia, 2026 (dati di esempio)</a:t>
            </a:r>
            <a:endParaRPr lang="en-US" sz="2000" dirty="0"/>
          </a:p>
        </p:txBody>
      </p:sp>
      <p:sp>
        <p:nvSpPr>
          <p:cNvPr id="5" name="Filetto cifra"/>
          <p:cNvSpPr/>
          <p:nvPr/>
        </p:nvSpPr>
        <p:spPr>
          <a:xfrm>
            <a:off x="777240" y="2194560"/>
            <a:ext cx="329184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Cifra 1"/>
          <p:cNvSpPr txBox="1"/>
          <p:nvPr/>
        </p:nvSpPr>
        <p:spPr>
          <a:xfrm>
            <a:off x="777240" y="23774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48,6</a:t>
            </a:r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 mld €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Masse in consulenza fee-only</a:t>
            </a:r>
            <a:endParaRPr lang="en-US" sz="1600" dirty="0"/>
          </a:p>
        </p:txBody>
      </p:sp>
      <p:sp>
        <p:nvSpPr>
          <p:cNvPr id="8" name="Filetto cifra"/>
          <p:cNvSpPr/>
          <p:nvPr/>
        </p:nvSpPr>
        <p:spPr>
          <a:xfrm>
            <a:off x="4389120" y="2194560"/>
            <a:ext cx="329184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Cifra 2"/>
          <p:cNvSpPr txBox="1"/>
          <p:nvPr/>
        </p:nvSpPr>
        <p:spPr>
          <a:xfrm>
            <a:off x="4389120" y="23774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1.912</a:t>
            </a:r>
            <a:pPr indent="0" marL="0">
              <a:buNone/>
            </a:pP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Consulenti iscritti all’albo OCF, sezione autonomi</a:t>
            </a:r>
            <a:endParaRPr lang="en-US" sz="1600" dirty="0"/>
          </a:p>
        </p:txBody>
      </p:sp>
      <p:sp>
        <p:nvSpPr>
          <p:cNvPr id="11" name="Filetto cifra"/>
          <p:cNvSpPr/>
          <p:nvPr/>
        </p:nvSpPr>
        <p:spPr>
          <a:xfrm>
            <a:off x="8001000" y="2194560"/>
            <a:ext cx="329184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Cifra 3"/>
          <p:cNvSpPr txBox="1"/>
          <p:nvPr/>
        </p:nvSpPr>
        <p:spPr>
          <a:xfrm>
            <a:off x="8001000" y="23774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0,62</a:t>
            </a:r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%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Parcella media sul patrimonio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zzo anello"/>
          <p:cNvSpPr/>
          <p:nvPr/>
        </p:nvSpPr>
        <p:spPr>
          <a:xfrm>
            <a:off x="-411480" y="292608"/>
            <a:ext cx="822960" cy="822960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77240" y="2743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Clienti per fascia di patrimonio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77240" y="1024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Clienti seguiti dai consulenti fee-only (dati di esempio)</a:t>
            </a:r>
            <a:endParaRPr lang="en-US" sz="2000" dirty="0"/>
          </a:p>
        </p:txBody>
      </p:sp>
      <p:graphicFrame>
        <p:nvGraphicFramePr>
          <p:cNvPr id="5" name="Grafico ciambella" descr=""/>
          <p:cNvGraphicFramePr/>
          <p:nvPr/>
        </p:nvGraphicFramePr>
        <p:xfrm>
          <a:off x="777240" y="1828800"/>
          <a:ext cx="4754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Banner freccia"/>
          <p:cNvSpPr/>
          <p:nvPr/>
        </p:nvSpPr>
        <p:spPr>
          <a:xfrm>
            <a:off x="6126480" y="2103120"/>
            <a:ext cx="5120640" cy="822960"/>
          </a:xfrm>
          <a:prstGeom prst="homePlate">
            <a:avLst/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355080" y="21031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Clientela concentrata sui patrimoni elevati</a:t>
            </a:r>
            <a:endParaRPr lang="en-US" sz="1700" dirty="0"/>
          </a:p>
        </p:txBody>
      </p:sp>
      <p:sp>
        <p:nvSpPr>
          <p:cNvPr id="8" name="Legenda 1"/>
          <p:cNvSpPr/>
          <p:nvPr/>
        </p:nvSpPr>
        <p:spPr>
          <a:xfrm>
            <a:off x="6355080" y="3364992"/>
            <a:ext cx="256032" cy="256032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12280" y="32918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Oltre 1 mln € (45%)</a:t>
            </a:r>
            <a:endParaRPr lang="en-US" sz="1600" dirty="0"/>
          </a:p>
        </p:txBody>
      </p:sp>
      <p:sp>
        <p:nvSpPr>
          <p:cNvPr id="10" name="Legenda 2"/>
          <p:cNvSpPr/>
          <p:nvPr/>
        </p:nvSpPr>
        <p:spPr>
          <a:xfrm>
            <a:off x="6355080" y="3913632"/>
            <a:ext cx="256032" cy="256032"/>
          </a:xfrm>
          <a:prstGeom prst="rect">
            <a:avLst/>
          </a:prstGeom>
          <a:solidFill>
            <a:srgbClr val="50586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12280" y="384048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500k – 1 mln € (28%)</a:t>
            </a:r>
            <a:endParaRPr lang="en-US" sz="1600" dirty="0"/>
          </a:p>
        </p:txBody>
      </p:sp>
      <p:sp>
        <p:nvSpPr>
          <p:cNvPr id="12" name="Legenda 3"/>
          <p:cNvSpPr/>
          <p:nvPr/>
        </p:nvSpPr>
        <p:spPr>
          <a:xfrm>
            <a:off x="6355080" y="4462272"/>
            <a:ext cx="256032" cy="256032"/>
          </a:xfrm>
          <a:prstGeom prst="rect">
            <a:avLst/>
          </a:prstGeom>
          <a:solidFill>
            <a:srgbClr val="80889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12280" y="43891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250 – 500k € (15%)</a:t>
            </a:r>
            <a:endParaRPr lang="en-US" sz="1600" dirty="0"/>
          </a:p>
        </p:txBody>
      </p:sp>
      <p:sp>
        <p:nvSpPr>
          <p:cNvPr id="14" name="Legenda 4"/>
          <p:cNvSpPr/>
          <p:nvPr/>
        </p:nvSpPr>
        <p:spPr>
          <a:xfrm>
            <a:off x="6355080" y="5010912"/>
            <a:ext cx="256032" cy="256032"/>
          </a:xfrm>
          <a:prstGeom prst="rect">
            <a:avLst/>
          </a:prstGeom>
          <a:solidFill>
            <a:srgbClr val="C8303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12280" y="49377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100 – 250k € (8%)</a:t>
            </a:r>
            <a:endParaRPr lang="en-US" sz="1600" dirty="0"/>
          </a:p>
        </p:txBody>
      </p:sp>
      <p:sp>
        <p:nvSpPr>
          <p:cNvPr id="16" name="Legenda 5"/>
          <p:cNvSpPr/>
          <p:nvPr/>
        </p:nvSpPr>
        <p:spPr>
          <a:xfrm>
            <a:off x="6355080" y="5559552"/>
            <a:ext cx="256032" cy="256032"/>
          </a:xfrm>
          <a:prstGeom prst="rect">
            <a:avLst/>
          </a:prstGeom>
          <a:solidFill>
            <a:srgbClr val="A2A3A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12280" y="548640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Sotto 100k € (4%)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zzo anello"/>
          <p:cNvSpPr/>
          <p:nvPr/>
        </p:nvSpPr>
        <p:spPr>
          <a:xfrm>
            <a:off x="-411480" y="292608"/>
            <a:ext cx="822960" cy="822960"/>
          </a:xfrm>
          <a:prstGeom prst="donu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77240" y="2743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Primi cinque operatori per masse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77240" y="10241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Operatori e valori di esempio</a:t>
            </a:r>
            <a:endParaRPr lang="en-US" sz="2000" dirty="0"/>
          </a:p>
        </p:txBody>
      </p:sp>
      <p:graphicFrame>
        <p:nvGraphicFramePr>
          <p:cNvPr id="8" name="Tabel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070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011680"/>
                <a:gridCol w="201168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Operatore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Sede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Masse (€ mln)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Var. a/a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Quota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Operatore A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Milano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3.420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+14,2%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7,0%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Operatore B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Roma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2.180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+9,8%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4,5%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Operatore C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Padova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1.640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+18,1%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3,4%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Operatore D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Bologna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1.210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E53446"/>
                          </a:solidFill>
                        </a:rPr>
                        <a:t>−2,3%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2,5%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Operatore E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Torino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980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+6,5%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2,0%</a:t>
                      </a:r>
                      <a:endParaRPr lang="en-US" sz="1600" dirty="0"/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05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9A"/>
                </a:solidFill>
              </a:rPr>
              <a:t>Fonte: indicare la fonte e il periodo di rilevazione.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Libre Baskerville"/>
                <a:ea typeface="Libre Baskerville"/>
                <a:cs typeface="Libre Baskervill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2011680" y="3429000"/>
            <a:ext cx="8168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Grazie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nome.cognome@advisor.it · www.advisoronline.it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ISOR">
  <a:themeElements>
    <a:clrScheme name="ADVISOR">
      <a:dk1>
        <a:srgbClr val="101010"/>
      </a:dk1>
      <a:lt1>
        <a:srgbClr val="FFFFFF"/>
      </a:lt1>
      <a:dk2>
        <a:srgbClr val="282C34"/>
      </a:dk2>
      <a:lt2>
        <a:srgbClr val="D8D8D8"/>
      </a:lt2>
      <a:accent1>
        <a:srgbClr val="BA0100"/>
      </a:accent1>
      <a:accent2>
        <a:srgbClr val="E53446"/>
      </a:accent2>
      <a:accent3>
        <a:srgbClr val="505864"/>
      </a:accent3>
      <a:accent4>
        <a:srgbClr val="80889C"/>
      </a:accent4>
      <a:accent5>
        <a:srgbClr val="C8303F"/>
      </a:accent5>
      <a:accent6>
        <a:srgbClr val="A2A3A3"/>
      </a:accent6>
      <a:hlink>
        <a:srgbClr val="E53446"/>
      </a:hlink>
      <a:folHlink>
        <a:srgbClr val="707172"/>
      </a:folHlink>
    </a:clrScheme>
    <a:fontScheme name="ADVISOR">
      <a:majorFont>
        <a:latin typeface="Libre Baskervil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re Baskervil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ADVISOR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ADVISOR</dc:title>
  <dc:subject>PptxGenJS Presentation</dc:subject>
  <dc:creator>ADVISOR</dc:creator>
  <cp:lastModifiedBy>ADVISOR</cp:lastModifiedBy>
  <cp:revision>1</cp:revision>
  <dcterms:created xsi:type="dcterms:W3CDTF">2026-10-06T08:13:43Z</dcterms:created>
  <dcterms:modified xsi:type="dcterms:W3CDTF">2026-10-06T08:13:43Z</dcterms:modified>
</cp:coreProperties>
</file>